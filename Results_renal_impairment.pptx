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56" r:id="rId3"/>
    <p:sldId id="258" r:id="rId4"/>
    <p:sldId id="259" r:id="rId5"/>
    <p:sldId id="260" r:id="rId6"/>
    <p:sldId id="261" r:id="rId7"/>
    <p:sldId id="263" r:id="rId8"/>
    <p:sldId id="274" r:id="rId9"/>
    <p:sldId id="262" r:id="rId10"/>
    <p:sldId id="264" r:id="rId11"/>
    <p:sldId id="266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08"/>
    <p:restoredTop sz="94741"/>
  </p:normalViewPr>
  <p:slideViewPr>
    <p:cSldViewPr snapToGrid="0">
      <p:cViewPr>
        <p:scale>
          <a:sx n="121" d="100"/>
          <a:sy n="121" d="100"/>
        </p:scale>
        <p:origin x="15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4D5BA-CC2E-EB42-B2B8-DB9455986839}" type="datetimeFigureOut">
              <a:rPr lang="en-US" smtClean="0"/>
              <a:t>7/2/25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DB0C7-C9FD-B749-A67F-DE40A7478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DB0C7-C9FD-B749-A67F-DE40A7478B8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56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A23F0-4060-74F7-DA6F-114BA78F5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159B5-2ACA-0C75-3076-D6358F1D3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27C15-D111-5781-BA24-5A033412E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14AAF-979F-B926-099A-498B01626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DB0C7-C9FD-B749-A67F-DE40A7478B8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437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D2ADD-B25C-C21B-CB69-30FE393FE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9BEA49-2031-7A6E-EFC0-6F88F2BB2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71634A-A058-C6DE-5E5C-674AE9EF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2D263-708C-AABA-A11D-8CE35FFC4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DB0C7-C9FD-B749-A67F-DE40A7478B8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89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0CF2-E92E-78F7-7D5D-A7162477C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348B5-D6E3-EE1F-1CC8-05BBE7281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B2841-040A-32ED-305E-19C74B39B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A3B5-7070-6F41-AECA-8B1AEF2BB115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63331-CFE3-D3EE-3DF7-CDA0A437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41F12-34C0-1391-D189-A87763B7D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DE51-0E64-CB4D-AE0A-B180090B9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9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E7D5A-5A5C-C69B-1078-4E94CEF95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11A53-540E-E480-0D8D-5D64E31C9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6D4F4-3115-D192-37DA-ADC3C341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A3B5-7070-6F41-AECA-8B1AEF2BB115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41150-8785-0762-6758-BD14D522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D665F-58AA-F59E-2E66-6F5060CA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DE51-0E64-CB4D-AE0A-B180090B9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8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AC004-8551-20C6-A466-6F6C53480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787B9-7DA8-6AA1-1FCD-14BD8316F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CA0DC-9DDA-C50C-BDEE-87D8E23BA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A3B5-7070-6F41-AECA-8B1AEF2BB115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17124-9F45-9672-596C-D9F39F497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E7149-8FE2-6557-FCE5-AB80EC340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DE51-0E64-CB4D-AE0A-B180090B9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2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1BD90-AABA-83EC-2A2F-F30CB6ABA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360AC-5FA7-90E3-1EAD-3006163F9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1C0B3-EF00-E00B-9E52-4A5ED2A90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034CB-B02D-A51D-209C-9E9DFA114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A3B5-7070-6F41-AECA-8B1AEF2BB115}" type="datetimeFigureOut">
              <a:rPr lang="en-US" smtClean="0"/>
              <a:t>7/2/25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13A4F-606D-C3A4-5141-863C41BFA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F91D7-8319-2E41-8C7B-A50AD9301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DE51-0E64-CB4D-AE0A-B180090B9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36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96306-442D-4D9A-6197-C9D597494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4A535-AC77-4AD0-CCB9-2750F96F7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A4252-0F7A-52ED-5481-D1C46DE14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558737-BCA7-8266-56C7-8341213F27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1BBFAE-BE40-A8A3-FFB7-B1247DF49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9C2FB2-A76E-0419-8DB2-37908508E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A3B5-7070-6F41-AECA-8B1AEF2BB115}" type="datetimeFigureOut">
              <a:rPr lang="en-US" smtClean="0"/>
              <a:t>7/2/25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917D4-CB37-C8A2-AE3E-BD627121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80697E-21D1-7D79-410E-67FA395F0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DE51-0E64-CB4D-AE0A-B180090B9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90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7FD3C-F0A2-084F-136D-C008630C2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D64EA2-0ABF-4244-C4B1-DFA9A8444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A3B5-7070-6F41-AECA-8B1AEF2BB115}" type="datetimeFigureOut">
              <a:rPr lang="en-US" smtClean="0"/>
              <a:t>7/2/25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F975A-F9DA-D86C-4E3F-AF1AC3D23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E60B1-B26A-A214-5F30-DC5A756FC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DE51-0E64-CB4D-AE0A-B180090B9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1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00A1D-3794-9E16-4578-CE447F899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A3B5-7070-6F41-AECA-8B1AEF2BB115}" type="datetimeFigureOut">
              <a:rPr lang="en-US" smtClean="0"/>
              <a:t>7/2/25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1B42CC-2545-64E0-D2C1-10CFB1A20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451CD-DD23-5F21-9818-79615E18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DE51-0E64-CB4D-AE0A-B180090B9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0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2030-71D4-5664-708E-8F37209D3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42B8B-9A97-1264-527F-3BBCA3C3B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78DC05-649C-0C05-4FB0-C97226024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99096-A390-5DD0-4E54-4700A6934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A3B5-7070-6F41-AECA-8B1AEF2BB115}" type="datetimeFigureOut">
              <a:rPr lang="en-US" smtClean="0"/>
              <a:t>7/2/25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0F7D5-42A8-1887-1F31-FBE4C38BD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8DD38-6F04-50FF-A9A3-4AC36C6AD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DE51-0E64-CB4D-AE0A-B180090B9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83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71D73-44F7-375A-AB23-E28FE3A83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5D1593-3F79-4109-A2C6-374D6B43B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F2E30-ED90-5ABF-491B-D1A225D5A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6051B-F891-9709-E467-01D94AF9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A3B5-7070-6F41-AECA-8B1AEF2BB115}" type="datetimeFigureOut">
              <a:rPr lang="en-US" smtClean="0"/>
              <a:t>7/2/25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9C456-389D-A8B5-8920-80EB05BB8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198DF-A144-1AC6-E015-064996F5B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DE51-0E64-CB4D-AE0A-B180090B9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38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4064E-2F4A-C8F8-0CE5-B14629FF6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B4089-148C-CD2F-6BF1-4D3E7B613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BBB2C-6B36-A13D-763B-25967A046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A3B5-7070-6F41-AECA-8B1AEF2BB115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B5DE4-35E9-177D-652C-18DE02C7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F3F6E-2A48-EC31-A988-96462B4CC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DE51-0E64-CB4D-AE0A-B180090B9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54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6812D7-5CAD-C465-003D-E5077C9A7B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92201-8A51-564F-860A-39388FD19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53E8F-8795-5FFB-760F-915DDAEC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A3B5-7070-6F41-AECA-8B1AEF2BB115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D45F-36D9-810A-6F0E-E45C57F8D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B26C8-B656-9CA7-A67B-6020924DC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DE51-0E64-CB4D-AE0A-B180090B9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85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42724-7C1B-E995-C55B-F2AAEEAA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6C62B-399F-3D52-CAF8-2A638884C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77223-F548-0971-590D-886687ECD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65A3B5-7070-6F41-AECA-8B1AEF2BB115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285A6-8374-B187-A4A6-17F5782674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A9F52-A18A-B896-A9CF-80F17BD3AE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CEDE51-0E64-CB4D-AE0A-B180090B9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57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41E16-0548-CFBB-9FA9-0F739782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trying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4DEE1-BBCF-9FB5-15DA-3024D66D1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aim to </a:t>
            </a:r>
            <a:r>
              <a:rPr lang="en-US" dirty="0" err="1"/>
              <a:t>standardise</a:t>
            </a:r>
            <a:r>
              <a:rPr lang="en-US" dirty="0"/>
              <a:t> definitions of renal impairment for adults and children by comparing the prognostic values of specific absolute thresholds in a large pooled database of over 15,000 children and adults recruited into prospective studies of severe malaria.</a:t>
            </a:r>
          </a:p>
        </p:txBody>
      </p:sp>
    </p:spTree>
    <p:extLst>
      <p:ext uri="{BB962C8B-B14F-4D97-AF65-F5344CB8AC3E}">
        <p14:creationId xmlns:p14="http://schemas.microsoft.com/office/powerpoint/2010/main" val="1541491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4EE5B4-C9C5-D64C-A6CB-84A6E7739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62121" cy="695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8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0BF0ECE-42B1-00E8-EE30-05D9ED3FFE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868" y="64090"/>
            <a:ext cx="10094728" cy="67298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E2B7D0-3E7B-8A93-ABF3-FE6ACC5B793B}"/>
              </a:ext>
            </a:extLst>
          </p:cNvPr>
          <p:cNvSpPr txBox="1"/>
          <p:nvPr/>
        </p:nvSpPr>
        <p:spPr>
          <a:xfrm>
            <a:off x="7283303" y="148856"/>
            <a:ext cx="4231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AQUAMAT &amp; SEAQUAMAT did not measure creatinine</a:t>
            </a:r>
          </a:p>
          <a:p>
            <a:r>
              <a:rPr lang="en-US" dirty="0"/>
              <a:t>KEMRI cohort did not measure BUN</a:t>
            </a:r>
          </a:p>
        </p:txBody>
      </p:sp>
    </p:spTree>
    <p:extLst>
      <p:ext uri="{BB962C8B-B14F-4D97-AF65-F5344CB8AC3E}">
        <p14:creationId xmlns:p14="http://schemas.microsoft.com/office/powerpoint/2010/main" val="487868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graph&#10;&#10;AI-generated content may be incorrect.">
            <a:extLst>
              <a:ext uri="{FF2B5EF4-FFF2-40B4-BE49-F238E27FC236}">
                <a16:creationId xmlns:a16="http://schemas.microsoft.com/office/drawing/2014/main" id="{939F2960-3BCB-AF98-5F69-2822C5C556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499" y="-1"/>
            <a:ext cx="10073464" cy="67156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630A52-B6FC-90E2-B6E7-1A5BCFD86C40}"/>
              </a:ext>
            </a:extLst>
          </p:cNvPr>
          <p:cNvSpPr txBox="1"/>
          <p:nvPr/>
        </p:nvSpPr>
        <p:spPr>
          <a:xfrm>
            <a:off x="6964325" y="372140"/>
            <a:ext cx="3744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~5000 patients have both measured</a:t>
            </a:r>
          </a:p>
        </p:txBody>
      </p:sp>
    </p:spTree>
    <p:extLst>
      <p:ext uri="{BB962C8B-B14F-4D97-AF65-F5344CB8AC3E}">
        <p14:creationId xmlns:p14="http://schemas.microsoft.com/office/powerpoint/2010/main" val="2510217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creatine and creatine&#10;&#10;AI-generated content may be incorrect.">
            <a:extLst>
              <a:ext uri="{FF2B5EF4-FFF2-40B4-BE49-F238E27FC236}">
                <a16:creationId xmlns:a16="http://schemas.microsoft.com/office/drawing/2014/main" id="{8AF04E4A-6C1C-4DB5-C8F3-F8169EE1FC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499" y="-1"/>
            <a:ext cx="10127513" cy="6751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D79CFB-350F-DEEA-1177-7B516D95DB17}"/>
              </a:ext>
            </a:extLst>
          </p:cNvPr>
          <p:cNvSpPr txBox="1"/>
          <p:nvPr/>
        </p:nvSpPr>
        <p:spPr>
          <a:xfrm>
            <a:off x="6560288" y="244548"/>
            <a:ext cx="4348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Variation in ratio of Creatinine/BUN</a:t>
            </a:r>
          </a:p>
          <a:p>
            <a:r>
              <a:rPr lang="en-US" dirty="0"/>
              <a:t>Adults appear to have higher creatinine values for a given BUN value </a:t>
            </a:r>
          </a:p>
        </p:txBody>
      </p:sp>
    </p:spTree>
    <p:extLst>
      <p:ext uri="{BB962C8B-B14F-4D97-AF65-F5344CB8AC3E}">
        <p14:creationId xmlns:p14="http://schemas.microsoft.com/office/powerpoint/2010/main" val="2583464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409C3-983B-D355-4D27-128C6D37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6DE386-C7F2-21F0-F729-3421740598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2499" y="-1"/>
            <a:ext cx="10127512" cy="6751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EF7D8C-BAD2-F4A4-463A-D448DB509EB6}"/>
              </a:ext>
            </a:extLst>
          </p:cNvPr>
          <p:cNvSpPr txBox="1"/>
          <p:nvPr/>
        </p:nvSpPr>
        <p:spPr>
          <a:xfrm>
            <a:off x="6560288" y="244548"/>
            <a:ext cx="4348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Variation in ratio of Creatinine/BUN</a:t>
            </a:r>
          </a:p>
          <a:p>
            <a:r>
              <a:rPr lang="en-US" dirty="0"/>
              <a:t>Adults appear to have higher creatinine values for a given BUN value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249E3C-B7C7-1C0B-FEAC-00F30CAFD13F}"/>
              </a:ext>
            </a:extLst>
          </p:cNvPr>
          <p:cNvSpPr txBox="1"/>
          <p:nvPr/>
        </p:nvSpPr>
        <p:spPr>
          <a:xfrm>
            <a:off x="6560288" y="1167878"/>
            <a:ext cx="2133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every 10 kg increase in weight, you get ~25% increase in creatinine, versus a 15% increase in BUN</a:t>
            </a:r>
          </a:p>
        </p:txBody>
      </p:sp>
    </p:spTree>
    <p:extLst>
      <p:ext uri="{BB962C8B-B14F-4D97-AF65-F5344CB8AC3E}">
        <p14:creationId xmlns:p14="http://schemas.microsoft.com/office/powerpoint/2010/main" val="447782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6AF2A-406C-C035-4A5D-B1017750B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64AEC1-39FA-5226-2ABF-860B1CB6B8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2499" y="-1"/>
            <a:ext cx="10127512" cy="6751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FBB6FF-0412-2529-6441-839F08B0974B}"/>
              </a:ext>
            </a:extLst>
          </p:cNvPr>
          <p:cNvSpPr txBox="1"/>
          <p:nvPr/>
        </p:nvSpPr>
        <p:spPr>
          <a:xfrm>
            <a:off x="6560288" y="244548"/>
            <a:ext cx="4348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Variation in ratio of Creatinine/BUN</a:t>
            </a:r>
          </a:p>
          <a:p>
            <a:r>
              <a:rPr lang="en-US" dirty="0"/>
              <a:t>Adults appear to have higher creatinine values for a given BUN value </a:t>
            </a:r>
          </a:p>
        </p:txBody>
      </p:sp>
    </p:spTree>
    <p:extLst>
      <p:ext uri="{BB962C8B-B14F-4D97-AF65-F5344CB8AC3E}">
        <p14:creationId xmlns:p14="http://schemas.microsoft.com/office/powerpoint/2010/main" val="1474056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3B44E-8BC1-DA7A-D1ED-9948EB37E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6065F6-872E-955A-D9E0-35EA4A54CC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40417" y="-1"/>
            <a:ext cx="6751675" cy="6751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981F62-7AB5-DD42-7CFC-FAB96108A874}"/>
              </a:ext>
            </a:extLst>
          </p:cNvPr>
          <p:cNvSpPr txBox="1"/>
          <p:nvPr/>
        </p:nvSpPr>
        <p:spPr>
          <a:xfrm>
            <a:off x="159488" y="875168"/>
            <a:ext cx="27308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Variation in ratio of Creatinine/BUN</a:t>
            </a:r>
          </a:p>
          <a:p>
            <a:endParaRPr lang="en-US" dirty="0"/>
          </a:p>
          <a:p>
            <a:r>
              <a:rPr lang="en-US" dirty="0"/>
              <a:t>Adults appear to have higher creatinine values for a given BUN value </a:t>
            </a:r>
          </a:p>
        </p:txBody>
      </p:sp>
    </p:spTree>
    <p:extLst>
      <p:ext uri="{BB962C8B-B14F-4D97-AF65-F5344CB8AC3E}">
        <p14:creationId xmlns:p14="http://schemas.microsoft.com/office/powerpoint/2010/main" val="3177518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CA1AF01-AB9C-453C-6709-FD696E7012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1889" y="31602"/>
            <a:ext cx="11648221" cy="679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169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8276C-70B6-2EBC-1802-85164D1B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97C0D06-3A33-AAF9-BC06-1FEA6FCA35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1889" y="31602"/>
            <a:ext cx="11648221" cy="679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29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blood groups&#10;&#10;AI-generated content may be incorrect.">
            <a:extLst>
              <a:ext uri="{FF2B5EF4-FFF2-40B4-BE49-F238E27FC236}">
                <a16:creationId xmlns:a16="http://schemas.microsoft.com/office/drawing/2014/main" id="{7E908C56-D36F-BA48-3E41-D69567C03E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6433" y="0"/>
            <a:ext cx="6858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4C9579-801B-C352-383C-5AE84FFFDFDD}"/>
              </a:ext>
            </a:extLst>
          </p:cNvPr>
          <p:cNvSpPr txBox="1"/>
          <p:nvPr/>
        </p:nvSpPr>
        <p:spPr>
          <a:xfrm>
            <a:off x="340242" y="563524"/>
            <a:ext cx="37426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Non-parametric – mortality by subgroups: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Weight (&lt;30, &gt;30kg)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Coma on admission (yes/no)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Creatinine levels or BUN levels on admission</a:t>
            </a:r>
          </a:p>
        </p:txBody>
      </p:sp>
    </p:spTree>
    <p:extLst>
      <p:ext uri="{BB962C8B-B14F-4D97-AF65-F5344CB8AC3E}">
        <p14:creationId xmlns:p14="http://schemas.microsoft.com/office/powerpoint/2010/main" val="2077665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9D80F-2D87-399B-8646-C31D202E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relationship between creatinine or BUN and death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1EF88-7658-2CC6-7689-48370F01D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adjust for coma status: this is recorded in nearly all patients and is the strongest predictor of death</a:t>
            </a:r>
          </a:p>
          <a:p>
            <a:pPr lvl="1"/>
            <a:r>
              <a:rPr lang="en-US" dirty="0"/>
              <a:t>The main threshold of interest would be for non comatose patients</a:t>
            </a:r>
          </a:p>
          <a:p>
            <a:r>
              <a:rPr lang="en-US" dirty="0"/>
              <a:t>We fit penalized splines on the log</a:t>
            </a:r>
            <a:r>
              <a:rPr lang="en-US" baseline="-25000" dirty="0"/>
              <a:t>10</a:t>
            </a:r>
            <a:r>
              <a:rPr lang="en-US" dirty="0"/>
              <a:t> BUN or Creatinine, stratified either by weight (cut-off of 30kg) or by Age (&lt;2, 2-5, 5-15, &gt;15) or by study</a:t>
            </a:r>
          </a:p>
          <a:p>
            <a:r>
              <a:rPr lang="en-US" dirty="0"/>
              <a:t>We evaluate threshold as a BUN or Creatinine value such that the Probability(Mortality&gt;5%) is above some threshold (e.g. 0.8)</a:t>
            </a:r>
          </a:p>
        </p:txBody>
      </p:sp>
    </p:spTree>
    <p:extLst>
      <p:ext uri="{BB962C8B-B14F-4D97-AF65-F5344CB8AC3E}">
        <p14:creationId xmlns:p14="http://schemas.microsoft.com/office/powerpoint/2010/main" val="3781815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number of graphs&#10;&#10;AI-generated content may be incorrect.">
            <a:extLst>
              <a:ext uri="{FF2B5EF4-FFF2-40B4-BE49-F238E27FC236}">
                <a16:creationId xmlns:a16="http://schemas.microsoft.com/office/drawing/2014/main" id="{094E98D5-C4BB-B8C3-9EBD-A4801503B4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499" y="0"/>
            <a:ext cx="10307379" cy="68715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FD3FFC-C865-7B1C-AC80-957CA0028D87}"/>
              </a:ext>
            </a:extLst>
          </p:cNvPr>
          <p:cNvSpPr txBox="1"/>
          <p:nvPr/>
        </p:nvSpPr>
        <p:spPr>
          <a:xfrm>
            <a:off x="85060" y="574158"/>
            <a:ext cx="2106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 study 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8A8DED-7CB5-911F-ED42-510AB371FB2C}"/>
              </a:ext>
            </a:extLst>
          </p:cNvPr>
          <p:cNvSpPr txBox="1"/>
          <p:nvPr/>
        </p:nvSpPr>
        <p:spPr>
          <a:xfrm>
            <a:off x="9016409" y="3870251"/>
            <a:ext cx="21265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TRACT (study of transfusion in severely anemic children is a clear outlier</a:t>
            </a:r>
          </a:p>
        </p:txBody>
      </p:sp>
    </p:spTree>
    <p:extLst>
      <p:ext uri="{BB962C8B-B14F-4D97-AF65-F5344CB8AC3E}">
        <p14:creationId xmlns:p14="http://schemas.microsoft.com/office/powerpoint/2010/main" val="1069636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32F1E-0E78-6EBB-CBF0-EE540F878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663FD1-2D2A-C650-10C9-A50829206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2499" y="0"/>
            <a:ext cx="10307379" cy="68715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1853A7-6AE6-ED86-23A8-CDAC224DBFAA}"/>
              </a:ext>
            </a:extLst>
          </p:cNvPr>
          <p:cNvSpPr txBox="1"/>
          <p:nvPr/>
        </p:nvSpPr>
        <p:spPr>
          <a:xfrm>
            <a:off x="85060" y="574158"/>
            <a:ext cx="2106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Individual study 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41A5DA-E3AC-5583-9891-497F8269B373}"/>
              </a:ext>
            </a:extLst>
          </p:cNvPr>
          <p:cNvSpPr txBox="1"/>
          <p:nvPr/>
        </p:nvSpPr>
        <p:spPr>
          <a:xfrm>
            <a:off x="8867554" y="5156791"/>
            <a:ext cx="27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TRACT (study of transfusion in severely anemic children is a clear outlier</a:t>
            </a:r>
          </a:p>
        </p:txBody>
      </p:sp>
    </p:spTree>
    <p:extLst>
      <p:ext uri="{BB962C8B-B14F-4D97-AF65-F5344CB8AC3E}">
        <p14:creationId xmlns:p14="http://schemas.microsoft.com/office/powerpoint/2010/main" val="44360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showing different stages of creatine&#10;&#10;AI-generated content may be incorrect.">
            <a:extLst>
              <a:ext uri="{FF2B5EF4-FFF2-40B4-BE49-F238E27FC236}">
                <a16:creationId xmlns:a16="http://schemas.microsoft.com/office/drawing/2014/main" id="{41C53FA4-C438-DF6A-4D5F-CC9D9BE156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4442" y="0"/>
            <a:ext cx="6858000" cy="6858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5BC1B6-D75D-9904-F798-701CB7545F43}"/>
              </a:ext>
            </a:extLst>
          </p:cNvPr>
          <p:cNvCxnSpPr/>
          <p:nvPr/>
        </p:nvCxnSpPr>
        <p:spPr>
          <a:xfrm>
            <a:off x="304756" y="1576918"/>
            <a:ext cx="5847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B7573C-55BE-5B70-A286-A04C9593F459}"/>
              </a:ext>
            </a:extLst>
          </p:cNvPr>
          <p:cNvCxnSpPr/>
          <p:nvPr/>
        </p:nvCxnSpPr>
        <p:spPr>
          <a:xfrm>
            <a:off x="304756" y="1963234"/>
            <a:ext cx="584791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1CD4BBB-33AB-040E-A571-1E38BE4D7D54}"/>
              </a:ext>
            </a:extLst>
          </p:cNvPr>
          <p:cNvSpPr txBox="1"/>
          <p:nvPr/>
        </p:nvSpPr>
        <p:spPr>
          <a:xfrm>
            <a:off x="1070300" y="1778568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Comatose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78CE06-1C56-7F20-AFE6-D0C7CE465CDD}"/>
              </a:ext>
            </a:extLst>
          </p:cNvPr>
          <p:cNvSpPr txBox="1"/>
          <p:nvPr/>
        </p:nvSpPr>
        <p:spPr>
          <a:xfrm>
            <a:off x="1070300" y="1392252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comatose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9B0C5B-EC78-EFE1-AFFE-A342CFB41B09}"/>
              </a:ext>
            </a:extLst>
          </p:cNvPr>
          <p:cNvSpPr txBox="1"/>
          <p:nvPr/>
        </p:nvSpPr>
        <p:spPr>
          <a:xfrm>
            <a:off x="4029740" y="438466"/>
            <a:ext cx="1812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Adults (&gt;30kg)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Children (&lt;30kg)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67CC15-5C0D-AD12-AB65-3951791BC4CA}"/>
              </a:ext>
            </a:extLst>
          </p:cNvPr>
          <p:cNvCxnSpPr>
            <a:cxnSpLocks/>
          </p:cNvCxnSpPr>
          <p:nvPr/>
        </p:nvCxnSpPr>
        <p:spPr>
          <a:xfrm>
            <a:off x="8537945" y="858062"/>
            <a:ext cx="7655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2433998-2E91-F22C-E898-E2FE16BC76DE}"/>
              </a:ext>
            </a:extLst>
          </p:cNvPr>
          <p:cNvSpPr txBox="1"/>
          <p:nvPr/>
        </p:nvSpPr>
        <p:spPr>
          <a:xfrm>
            <a:off x="8206366" y="900131"/>
            <a:ext cx="1343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&gt;100 higher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6FFB34-D93A-B5C3-3486-22417CD41227}"/>
              </a:ext>
            </a:extLst>
          </p:cNvPr>
          <p:cNvSpPr txBox="1"/>
          <p:nvPr/>
        </p:nvSpPr>
        <p:spPr>
          <a:xfrm>
            <a:off x="7935650" y="4253069"/>
            <a:ext cx="1080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~20% higher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3DAC536-B0F7-7436-DA6A-44765CF1E91D}"/>
              </a:ext>
            </a:extLst>
          </p:cNvPr>
          <p:cNvCxnSpPr>
            <a:cxnSpLocks/>
          </p:cNvCxnSpPr>
          <p:nvPr/>
        </p:nvCxnSpPr>
        <p:spPr>
          <a:xfrm>
            <a:off x="8765920" y="4301239"/>
            <a:ext cx="2032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77B884D-73D0-52A5-0F0B-5781F317FD3B}"/>
              </a:ext>
            </a:extLst>
          </p:cNvPr>
          <p:cNvSpPr txBox="1"/>
          <p:nvPr/>
        </p:nvSpPr>
        <p:spPr>
          <a:xfrm>
            <a:off x="493986" y="241738"/>
            <a:ext cx="1601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All data</a:t>
            </a:r>
          </a:p>
        </p:txBody>
      </p:sp>
    </p:spTree>
    <p:extLst>
      <p:ext uri="{BB962C8B-B14F-4D97-AF65-F5344CB8AC3E}">
        <p14:creationId xmlns:p14="http://schemas.microsoft.com/office/powerpoint/2010/main" val="456487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5F140-28D4-B064-125A-1C0F854DC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839303-645C-85A1-8D0E-B94903C4AD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64442" y="0"/>
            <a:ext cx="6858000" cy="6858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E5B310-C979-CDA5-DD55-173EE2D8F72D}"/>
              </a:ext>
            </a:extLst>
          </p:cNvPr>
          <p:cNvCxnSpPr/>
          <p:nvPr/>
        </p:nvCxnSpPr>
        <p:spPr>
          <a:xfrm>
            <a:off x="304756" y="1576918"/>
            <a:ext cx="5847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14C065-465B-7F64-6A1D-CB3BEB0ED362}"/>
              </a:ext>
            </a:extLst>
          </p:cNvPr>
          <p:cNvCxnSpPr/>
          <p:nvPr/>
        </p:nvCxnSpPr>
        <p:spPr>
          <a:xfrm>
            <a:off x="304756" y="1963234"/>
            <a:ext cx="584791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FFF679F-76C6-3426-CEED-9DBD0EFE0CF2}"/>
              </a:ext>
            </a:extLst>
          </p:cNvPr>
          <p:cNvSpPr txBox="1"/>
          <p:nvPr/>
        </p:nvSpPr>
        <p:spPr>
          <a:xfrm>
            <a:off x="1070300" y="1778568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Comatose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0FAB1A-8A1E-D7B6-2AFA-DEFD7F845019}"/>
              </a:ext>
            </a:extLst>
          </p:cNvPr>
          <p:cNvSpPr txBox="1"/>
          <p:nvPr/>
        </p:nvSpPr>
        <p:spPr>
          <a:xfrm>
            <a:off x="1070300" y="1392252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comatose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498EBD-E944-063E-973E-D4E87D24F48B}"/>
              </a:ext>
            </a:extLst>
          </p:cNvPr>
          <p:cNvSpPr txBox="1"/>
          <p:nvPr/>
        </p:nvSpPr>
        <p:spPr>
          <a:xfrm>
            <a:off x="4029740" y="438466"/>
            <a:ext cx="1812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Adults (&gt;30kg)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Children (&lt;30kg)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AD5042-425E-BB52-BD5E-247D4EF0F84D}"/>
              </a:ext>
            </a:extLst>
          </p:cNvPr>
          <p:cNvCxnSpPr>
            <a:cxnSpLocks/>
          </p:cNvCxnSpPr>
          <p:nvPr/>
        </p:nvCxnSpPr>
        <p:spPr>
          <a:xfrm>
            <a:off x="8537945" y="858062"/>
            <a:ext cx="7655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FE68827-E4F7-75B9-AFD2-93E05DC61F8C}"/>
              </a:ext>
            </a:extLst>
          </p:cNvPr>
          <p:cNvSpPr txBox="1"/>
          <p:nvPr/>
        </p:nvSpPr>
        <p:spPr>
          <a:xfrm>
            <a:off x="8276952" y="930587"/>
            <a:ext cx="1097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&gt;100% higher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65DEDD-39BE-EA9B-6200-A6DED70BB9DD}"/>
              </a:ext>
            </a:extLst>
          </p:cNvPr>
          <p:cNvSpPr txBox="1"/>
          <p:nvPr/>
        </p:nvSpPr>
        <p:spPr>
          <a:xfrm>
            <a:off x="7935650" y="4253069"/>
            <a:ext cx="1080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~20% higher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C955483-D26F-0A3B-9EB9-20555C37BE34}"/>
              </a:ext>
            </a:extLst>
          </p:cNvPr>
          <p:cNvCxnSpPr>
            <a:cxnSpLocks/>
          </p:cNvCxnSpPr>
          <p:nvPr/>
        </p:nvCxnSpPr>
        <p:spPr>
          <a:xfrm>
            <a:off x="8723880" y="4301239"/>
            <a:ext cx="2032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6DA47B8-8FB8-7015-67EB-8E319E8A01E2}"/>
              </a:ext>
            </a:extLst>
          </p:cNvPr>
          <p:cNvSpPr txBox="1"/>
          <p:nvPr/>
        </p:nvSpPr>
        <p:spPr>
          <a:xfrm>
            <a:off x="212084" y="273287"/>
            <a:ext cx="3314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Removing TRACT</a:t>
            </a:r>
          </a:p>
        </p:txBody>
      </p:sp>
    </p:spTree>
    <p:extLst>
      <p:ext uri="{BB962C8B-B14F-4D97-AF65-F5344CB8AC3E}">
        <p14:creationId xmlns:p14="http://schemas.microsoft.com/office/powerpoint/2010/main" val="3155378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1C252-F842-BC12-1A68-CA79BF832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B1642A-F427-9476-086E-DA9B540667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64442" y="0"/>
            <a:ext cx="6858000" cy="6858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3BCC38-3AD8-1CCD-1D35-3E80B4BCFA4E}"/>
              </a:ext>
            </a:extLst>
          </p:cNvPr>
          <p:cNvCxnSpPr/>
          <p:nvPr/>
        </p:nvCxnSpPr>
        <p:spPr>
          <a:xfrm>
            <a:off x="304756" y="1576918"/>
            <a:ext cx="5847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46CFCA-074D-32ED-77B9-F4D2F6CACB2E}"/>
              </a:ext>
            </a:extLst>
          </p:cNvPr>
          <p:cNvCxnSpPr/>
          <p:nvPr/>
        </p:nvCxnSpPr>
        <p:spPr>
          <a:xfrm>
            <a:off x="304756" y="1963234"/>
            <a:ext cx="584791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3C42B40-1DAD-8937-3CCF-7E69678A3288}"/>
              </a:ext>
            </a:extLst>
          </p:cNvPr>
          <p:cNvSpPr txBox="1"/>
          <p:nvPr/>
        </p:nvSpPr>
        <p:spPr>
          <a:xfrm>
            <a:off x="1070300" y="1778568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Comatose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EDB9D-AA12-38D5-BB40-677CB44755EA}"/>
              </a:ext>
            </a:extLst>
          </p:cNvPr>
          <p:cNvSpPr txBox="1"/>
          <p:nvPr/>
        </p:nvSpPr>
        <p:spPr>
          <a:xfrm>
            <a:off x="1070300" y="1392252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comatose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2349C8-32FA-A0AF-5E3D-A2F6B0F7CB5E}"/>
              </a:ext>
            </a:extLst>
          </p:cNvPr>
          <p:cNvSpPr txBox="1"/>
          <p:nvPr/>
        </p:nvSpPr>
        <p:spPr>
          <a:xfrm>
            <a:off x="4029740" y="438466"/>
            <a:ext cx="1812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Adults (&gt;30kg)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Children (&lt;30kg)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5D538B-C5F3-A2F1-AFE8-D2E68628B874}"/>
              </a:ext>
            </a:extLst>
          </p:cNvPr>
          <p:cNvSpPr txBox="1"/>
          <p:nvPr/>
        </p:nvSpPr>
        <p:spPr>
          <a:xfrm>
            <a:off x="212084" y="273287"/>
            <a:ext cx="33633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Stratifying by age</a:t>
            </a:r>
          </a:p>
        </p:txBody>
      </p:sp>
      <p:pic>
        <p:nvPicPr>
          <p:cNvPr id="3" name="Picture 2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0D6EFD90-9D66-D259-1F60-263412C2F1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22442" y="1963234"/>
            <a:ext cx="1379483" cy="14657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BA57C6-6514-1FA2-9184-2065513EFF9B}"/>
              </a:ext>
            </a:extLst>
          </p:cNvPr>
          <p:cNvSpPr txBox="1"/>
          <p:nvPr/>
        </p:nvSpPr>
        <p:spPr>
          <a:xfrm>
            <a:off x="382387" y="3909484"/>
            <a:ext cx="260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Small age effect for BUN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A9207C-EE5A-7788-3419-6F7375BE5C4F}"/>
              </a:ext>
            </a:extLst>
          </p:cNvPr>
          <p:cNvCxnSpPr>
            <a:cxnSpLocks/>
          </p:cNvCxnSpPr>
          <p:nvPr/>
        </p:nvCxnSpPr>
        <p:spPr>
          <a:xfrm>
            <a:off x="2909655" y="4041386"/>
            <a:ext cx="5698318" cy="1452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D41E00-C505-BBB9-4833-E90538B837CB}"/>
              </a:ext>
            </a:extLst>
          </p:cNvPr>
          <p:cNvSpPr txBox="1"/>
          <p:nvPr/>
        </p:nvSpPr>
        <p:spPr>
          <a:xfrm>
            <a:off x="382387" y="3051422"/>
            <a:ext cx="3378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Massive age effect for creatinine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2DC3F6-DDF1-195B-0753-40DEF611FDA4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761261" y="1761584"/>
            <a:ext cx="5479130" cy="1474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815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445AF1-3EA3-75FE-B870-FF04ACC988CD}"/>
              </a:ext>
            </a:extLst>
          </p:cNvPr>
          <p:cNvSpPr txBox="1"/>
          <p:nvPr/>
        </p:nvSpPr>
        <p:spPr>
          <a:xfrm>
            <a:off x="578069" y="388649"/>
            <a:ext cx="98635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Which is a better predictor of death? Creatinine or BUN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092BD-9257-4FD2-598D-578EAD23A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401" y="1191596"/>
            <a:ext cx="9146267" cy="52777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37ED43-7F4D-4F89-886F-EC18829489EF}"/>
              </a:ext>
            </a:extLst>
          </p:cNvPr>
          <p:cNvSpPr txBox="1"/>
          <p:nvPr/>
        </p:nvSpPr>
        <p:spPr>
          <a:xfrm>
            <a:off x="146012" y="2699477"/>
            <a:ext cx="36050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clear heterogeneity of effect between adults and children: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Adults: log-odds for 10x increase in Cr is ~3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Children: log-odds is ~2</a:t>
            </a:r>
          </a:p>
          <a:p>
            <a:endParaRPr lang="en-US" dirty="0"/>
          </a:p>
          <a:p>
            <a:r>
              <a:rPr lang="en-US" dirty="0"/>
              <a:t>For BUN: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Adults: log-odds is ~2.7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Children: log-odds ~2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2111FD-19E7-E30B-DD01-2B55E15A4E22}"/>
              </a:ext>
            </a:extLst>
          </p:cNvPr>
          <p:cNvSpPr txBox="1"/>
          <p:nvPr/>
        </p:nvSpPr>
        <p:spPr>
          <a:xfrm>
            <a:off x="3216165" y="3244334"/>
            <a:ext cx="1893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Interaction terms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2D4BDD-A390-7541-0673-34A01C8ACFEF}"/>
              </a:ext>
            </a:extLst>
          </p:cNvPr>
          <p:cNvCxnSpPr>
            <a:cxnSpLocks/>
          </p:cNvCxnSpPr>
          <p:nvPr/>
        </p:nvCxnSpPr>
        <p:spPr>
          <a:xfrm flipV="1">
            <a:off x="4929352" y="2154621"/>
            <a:ext cx="861848" cy="10897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0F8053-5618-D0B7-9084-6FE8A9558EFE}"/>
              </a:ext>
            </a:extLst>
          </p:cNvPr>
          <p:cNvCxnSpPr>
            <a:cxnSpLocks/>
          </p:cNvCxnSpPr>
          <p:nvPr/>
        </p:nvCxnSpPr>
        <p:spPr>
          <a:xfrm>
            <a:off x="4792717" y="3613666"/>
            <a:ext cx="317364" cy="993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E181279-1DE8-AACE-DDA4-83FC7F5FAAFE}"/>
              </a:ext>
            </a:extLst>
          </p:cNvPr>
          <p:cNvSpPr txBox="1"/>
          <p:nvPr/>
        </p:nvSpPr>
        <p:spPr>
          <a:xfrm>
            <a:off x="578069" y="943586"/>
            <a:ext cx="5872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Univariate analysis looking at heterogeneity by weight/age</a:t>
            </a:r>
          </a:p>
        </p:txBody>
      </p:sp>
    </p:spTree>
    <p:extLst>
      <p:ext uri="{BB962C8B-B14F-4D97-AF65-F5344CB8AC3E}">
        <p14:creationId xmlns:p14="http://schemas.microsoft.com/office/powerpoint/2010/main" val="863631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C44EF-E941-7B87-FE8E-CD4FF8F86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042E52-3038-A252-1901-EF8CFE78EF81}"/>
              </a:ext>
            </a:extLst>
          </p:cNvPr>
          <p:cNvSpPr txBox="1"/>
          <p:nvPr/>
        </p:nvSpPr>
        <p:spPr>
          <a:xfrm>
            <a:off x="578069" y="388649"/>
            <a:ext cx="98635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Which is a better predictor of death? Creatinine or BUN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504B34-BC2C-4A91-79D6-8EEDD765B3DB}"/>
              </a:ext>
            </a:extLst>
          </p:cNvPr>
          <p:cNvSpPr txBox="1"/>
          <p:nvPr/>
        </p:nvSpPr>
        <p:spPr>
          <a:xfrm>
            <a:off x="478221" y="1523999"/>
            <a:ext cx="33577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I put both in a model, BUN is a better predictor of death in children, whereas Cr is a better predictor in adults. Very strong heterogeneity</a:t>
            </a:r>
          </a:p>
        </p:txBody>
      </p:sp>
      <p:pic>
        <p:nvPicPr>
          <p:cNvPr id="13" name="Picture 12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B561269C-407F-34E9-37B5-95DABB11F1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1379" y="1292773"/>
            <a:ext cx="777240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346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</TotalTime>
  <Words>502</Words>
  <Application>Microsoft Macintosh PowerPoint</Application>
  <PresentationFormat>Widescreen</PresentationFormat>
  <Paragraphs>64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What are we trying to 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Modelling relationship between creatinine or BUN and death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Watson</dc:creator>
  <cp:lastModifiedBy>James Watson</cp:lastModifiedBy>
  <cp:revision>13</cp:revision>
  <dcterms:created xsi:type="dcterms:W3CDTF">2025-07-02T10:42:38Z</dcterms:created>
  <dcterms:modified xsi:type="dcterms:W3CDTF">2025-07-03T09:09:13Z</dcterms:modified>
</cp:coreProperties>
</file>